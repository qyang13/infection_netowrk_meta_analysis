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90" r:id="rId1"/>
  </p:sldMasterIdLst>
  <p:notesMasterIdLst>
    <p:notesMasterId r:id="rId7"/>
  </p:notesMasterIdLst>
  <p:sldIdLst>
    <p:sldId id="344" r:id="rId2"/>
    <p:sldId id="357" r:id="rId3"/>
    <p:sldId id="358" r:id="rId4"/>
    <p:sldId id="350" r:id="rId5"/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372"/>
    <p:restoredTop sz="96925"/>
  </p:normalViewPr>
  <p:slideViewPr>
    <p:cSldViewPr snapToGrid="0" snapToObjects="1">
      <p:cViewPr>
        <p:scale>
          <a:sx n="141" d="100"/>
          <a:sy n="141" d="100"/>
        </p:scale>
        <p:origin x="147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qing/Documents/Meta_analysis/Meta_data/SRA_infection_rnaseq_accLis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qing/Documents/Meta_analysis/Meta_data/SRA_infection_rnaseq_accLis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qing/Documents/Meta_analysis/Meta_data/SRA_infection_rnaseq_accLis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3178782339707538E-2"/>
          <c:y val="2.9015477036258203E-2"/>
          <c:w val="0.17036223987626545"/>
          <c:h val="0.9419690459274836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Sheet3!$C$3</c:f>
              <c:strCache>
                <c:ptCount val="1"/>
                <c:pt idx="0">
                  <c:v>ADV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Sheet3!$D$3</c:f>
              <c:numCache>
                <c:formatCode>General</c:formatCode>
                <c:ptCount val="1"/>
                <c:pt idx="0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07-9E49-9E36-467D31353653}"/>
            </c:ext>
          </c:extLst>
        </c:ser>
        <c:ser>
          <c:idx val="1"/>
          <c:order val="1"/>
          <c:tx>
            <c:strRef>
              <c:f>Sheet3!$C$4</c:f>
              <c:strCache>
                <c:ptCount val="1"/>
                <c:pt idx="0">
                  <c:v>HuNoV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Ref>
              <c:f>Sheet3!$D$4</c:f>
              <c:numCache>
                <c:formatCode>General</c:formatCode>
                <c:ptCount val="1"/>
                <c:pt idx="0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F07-9E49-9E36-467D31353653}"/>
            </c:ext>
          </c:extLst>
        </c:ser>
        <c:ser>
          <c:idx val="2"/>
          <c:order val="2"/>
          <c:tx>
            <c:strRef>
              <c:f>Sheet3!$C$5</c:f>
              <c:strCache>
                <c:ptCount val="1"/>
                <c:pt idx="0">
                  <c:v>MERS-CoV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val>
            <c:numRef>
              <c:f>Sheet3!$D$5</c:f>
              <c:numCache>
                <c:formatCode>General</c:formatCode>
                <c:ptCount val="1"/>
                <c:pt idx="0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F07-9E49-9E36-467D31353653}"/>
            </c:ext>
          </c:extLst>
        </c:ser>
        <c:ser>
          <c:idx val="3"/>
          <c:order val="3"/>
          <c:tx>
            <c:strRef>
              <c:f>Sheet3!$C$6</c:f>
              <c:strCache>
                <c:ptCount val="1"/>
                <c:pt idx="0">
                  <c:v>SARS-CoV-1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val>
            <c:numRef>
              <c:f>Sheet3!$D$6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F07-9E49-9E36-467D31353653}"/>
            </c:ext>
          </c:extLst>
        </c:ser>
        <c:ser>
          <c:idx val="4"/>
          <c:order val="4"/>
          <c:tx>
            <c:strRef>
              <c:f>Sheet3!$C$7</c:f>
              <c:strCache>
                <c:ptCount val="1"/>
                <c:pt idx="0">
                  <c:v>SARS-CoV-2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val>
            <c:numRef>
              <c:f>Sheet3!$D$7</c:f>
              <c:numCache>
                <c:formatCode>General</c:formatCode>
                <c:ptCount val="1"/>
                <c:pt idx="0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F07-9E49-9E36-467D31353653}"/>
            </c:ext>
          </c:extLst>
        </c:ser>
        <c:ser>
          <c:idx val="5"/>
          <c:order val="5"/>
          <c:tx>
            <c:strRef>
              <c:f>Sheet3!$C$8</c:f>
              <c:strCache>
                <c:ptCount val="1"/>
                <c:pt idx="0">
                  <c:v>EBOV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val>
            <c:numRef>
              <c:f>Sheet3!$D$8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F07-9E49-9E36-467D31353653}"/>
            </c:ext>
          </c:extLst>
        </c:ser>
        <c:ser>
          <c:idx val="6"/>
          <c:order val="6"/>
          <c:tx>
            <c:strRef>
              <c:f>Sheet3!$C$9</c:f>
              <c:strCache>
                <c:ptCount val="1"/>
                <c:pt idx="0">
                  <c:v>DENV2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val>
            <c:numRef>
              <c:f>Sheet3!$D$9</c:f>
              <c:numCache>
                <c:formatCode>General</c:formatCode>
                <c:ptCount val="1"/>
                <c:pt idx="0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F07-9E49-9E36-467D31353653}"/>
            </c:ext>
          </c:extLst>
        </c:ser>
        <c:ser>
          <c:idx val="7"/>
          <c:order val="7"/>
          <c:tx>
            <c:strRef>
              <c:f>Sheet3!$C$10</c:f>
              <c:strCache>
                <c:ptCount val="1"/>
                <c:pt idx="0">
                  <c:v>HCV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val>
            <c:numRef>
              <c:f>Sheet3!$D$10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FF07-9E49-9E36-467D31353653}"/>
            </c:ext>
          </c:extLst>
        </c:ser>
        <c:ser>
          <c:idx val="8"/>
          <c:order val="8"/>
          <c:tx>
            <c:strRef>
              <c:f>Sheet3!$C$11</c:f>
              <c:strCache>
                <c:ptCount val="1"/>
                <c:pt idx="0">
                  <c:v>WNV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val>
            <c:numRef>
              <c:f>Sheet3!$D$11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F07-9E49-9E36-467D31353653}"/>
            </c:ext>
          </c:extLst>
        </c:ser>
        <c:ser>
          <c:idx val="9"/>
          <c:order val="9"/>
          <c:tx>
            <c:strRef>
              <c:f>Sheet3!$C$12</c:f>
              <c:strCache>
                <c:ptCount val="1"/>
                <c:pt idx="0">
                  <c:v>ZIKV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val>
            <c:numRef>
              <c:f>Sheet3!$D$12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FF07-9E49-9E36-467D31353653}"/>
            </c:ext>
          </c:extLst>
        </c:ser>
        <c:ser>
          <c:idx val="10"/>
          <c:order val="10"/>
          <c:tx>
            <c:strRef>
              <c:f>Sheet3!$C$13</c:f>
              <c:strCache>
                <c:ptCount val="1"/>
                <c:pt idx="0">
                  <c:v>HTNV</c:v>
                </c:pt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</a:ln>
            <a:effectLst/>
          </c:spPr>
          <c:invertIfNegative val="0"/>
          <c:val>
            <c:numRef>
              <c:f>Sheet3!$D$13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F07-9E49-9E36-467D31353653}"/>
            </c:ext>
          </c:extLst>
        </c:ser>
        <c:ser>
          <c:idx val="11"/>
          <c:order val="11"/>
          <c:tx>
            <c:strRef>
              <c:f>Sheet3!$C$14</c:f>
              <c:strCache>
                <c:ptCount val="1"/>
                <c:pt idx="0">
                  <c:v>HBV</c:v>
                </c:pt>
              </c:strCache>
            </c:strRef>
          </c:tx>
          <c:spPr>
            <a:solidFill>
              <a:schemeClr val="accent6">
                <a:lumMod val="60000"/>
              </a:schemeClr>
            </a:solidFill>
            <a:ln>
              <a:noFill/>
            </a:ln>
            <a:effectLst/>
          </c:spPr>
          <c:invertIfNegative val="0"/>
          <c:val>
            <c:numRef>
              <c:f>Sheet3!$D$14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FF07-9E49-9E36-467D31353653}"/>
            </c:ext>
          </c:extLst>
        </c:ser>
        <c:ser>
          <c:idx val="12"/>
          <c:order val="12"/>
          <c:tx>
            <c:strRef>
              <c:f>Sheet3!$C$15</c:f>
              <c:strCache>
                <c:ptCount val="1"/>
                <c:pt idx="0">
                  <c:v>HEV</c:v>
                </c:pt>
              </c:strCache>
            </c:strRef>
          </c:tx>
          <c:spPr>
            <a:solidFill>
              <a:schemeClr val="accent1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val>
            <c:numRef>
              <c:f>Sheet3!$D$15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F07-9E49-9E36-467D31353653}"/>
            </c:ext>
          </c:extLst>
        </c:ser>
        <c:ser>
          <c:idx val="13"/>
          <c:order val="13"/>
          <c:tx>
            <c:strRef>
              <c:f>Sheet3!$C$16</c:f>
              <c:strCache>
                <c:ptCount val="1"/>
                <c:pt idx="0">
                  <c:v>EBV</c:v>
                </c:pt>
              </c:strCache>
            </c:strRef>
          </c:tx>
          <c:spPr>
            <a:solidFill>
              <a:schemeClr val="accent2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val>
            <c:numRef>
              <c:f>Sheet3!$D$16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FF07-9E49-9E36-467D31353653}"/>
            </c:ext>
          </c:extLst>
        </c:ser>
        <c:ser>
          <c:idx val="14"/>
          <c:order val="14"/>
          <c:tx>
            <c:strRef>
              <c:f>Sheet3!$C$17</c:f>
              <c:strCache>
                <c:ptCount val="1"/>
                <c:pt idx="0">
                  <c:v>HCMV</c:v>
                </c:pt>
              </c:strCache>
            </c:strRef>
          </c:tx>
          <c:spPr>
            <a:solidFill>
              <a:schemeClr val="accent3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val>
            <c:numRef>
              <c:f>Sheet3!$D$17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FF07-9E49-9E36-467D31353653}"/>
            </c:ext>
          </c:extLst>
        </c:ser>
        <c:ser>
          <c:idx val="15"/>
          <c:order val="15"/>
          <c:tx>
            <c:strRef>
              <c:f>Sheet3!$C$18</c:f>
              <c:strCache>
                <c:ptCount val="1"/>
                <c:pt idx="0">
                  <c:v>HSV1</c:v>
                </c:pt>
              </c:strCache>
            </c:strRef>
          </c:tx>
          <c:spPr>
            <a:solidFill>
              <a:schemeClr val="accent4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val>
            <c:numRef>
              <c:f>Sheet3!$D$18</c:f>
              <c:numCache>
                <c:formatCode>General</c:formatCode>
                <c:ptCount val="1"/>
                <c:pt idx="0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FF07-9E49-9E36-467D31353653}"/>
            </c:ext>
          </c:extLst>
        </c:ser>
        <c:ser>
          <c:idx val="16"/>
          <c:order val="16"/>
          <c:tx>
            <c:strRef>
              <c:f>Sheet3!$C$19</c:f>
              <c:strCache>
                <c:ptCount val="1"/>
                <c:pt idx="0">
                  <c:v>HSV2</c:v>
                </c:pt>
              </c:strCache>
            </c:strRef>
          </c:tx>
          <c:spPr>
            <a:solidFill>
              <a:schemeClr val="accent5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val>
            <c:numRef>
              <c:f>Sheet3!$D$19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FF07-9E49-9E36-467D31353653}"/>
            </c:ext>
          </c:extLst>
        </c:ser>
        <c:ser>
          <c:idx val="17"/>
          <c:order val="17"/>
          <c:tx>
            <c:strRef>
              <c:f>Sheet3!$C$20</c:f>
              <c:strCache>
                <c:ptCount val="1"/>
                <c:pt idx="0">
                  <c:v>VZV</c:v>
                </c:pt>
              </c:strCache>
            </c:strRef>
          </c:tx>
          <c:spPr>
            <a:solidFill>
              <a:schemeClr val="accent6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val>
            <c:numRef>
              <c:f>Sheet3!$D$20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FF07-9E49-9E36-467D31353653}"/>
            </c:ext>
          </c:extLst>
        </c:ser>
        <c:ser>
          <c:idx val="18"/>
          <c:order val="18"/>
          <c:tx>
            <c:strRef>
              <c:f>Sheet3!$C$21</c:f>
              <c:strCache>
                <c:ptCount val="1"/>
                <c:pt idx="0">
                  <c:v>CCHFV</c:v>
                </c:pt>
              </c:strCache>
            </c:strRef>
          </c:tx>
          <c:spPr>
            <a:solidFill>
              <a:schemeClr val="accent1">
                <a:lumMod val="80000"/>
              </a:schemeClr>
            </a:solidFill>
            <a:ln>
              <a:noFill/>
            </a:ln>
            <a:effectLst/>
          </c:spPr>
          <c:invertIfNegative val="0"/>
          <c:val>
            <c:numRef>
              <c:f>Sheet3!$D$21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FF07-9E49-9E36-467D31353653}"/>
            </c:ext>
          </c:extLst>
        </c:ser>
        <c:ser>
          <c:idx val="19"/>
          <c:order val="19"/>
          <c:tx>
            <c:strRef>
              <c:f>Sheet3!$C$22</c:f>
              <c:strCache>
                <c:ptCount val="1"/>
                <c:pt idx="0">
                  <c:v>IAV</c:v>
                </c:pt>
              </c:strCache>
            </c:strRef>
          </c:tx>
          <c:spPr>
            <a:solidFill>
              <a:schemeClr val="accent2">
                <a:lumMod val="80000"/>
              </a:schemeClr>
            </a:solidFill>
            <a:ln>
              <a:noFill/>
            </a:ln>
            <a:effectLst/>
          </c:spPr>
          <c:invertIfNegative val="0"/>
          <c:val>
            <c:numRef>
              <c:f>Sheet3!$D$22</c:f>
              <c:numCache>
                <c:formatCode>General</c:formatCode>
                <c:ptCount val="1"/>
                <c:pt idx="0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FF07-9E49-9E36-467D31353653}"/>
            </c:ext>
          </c:extLst>
        </c:ser>
        <c:ser>
          <c:idx val="20"/>
          <c:order val="20"/>
          <c:tx>
            <c:strRef>
              <c:f>Sheet3!$C$23</c:f>
              <c:strCache>
                <c:ptCount val="1"/>
                <c:pt idx="0">
                  <c:v>HPV</c:v>
                </c:pt>
              </c:strCache>
            </c:strRef>
          </c:tx>
          <c:spPr>
            <a:solidFill>
              <a:schemeClr val="accent3">
                <a:lumMod val="80000"/>
              </a:schemeClr>
            </a:solidFill>
            <a:ln>
              <a:noFill/>
            </a:ln>
            <a:effectLst/>
          </c:spPr>
          <c:invertIfNegative val="0"/>
          <c:val>
            <c:numRef>
              <c:f>Sheet3!$D$23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FF07-9E49-9E36-467D31353653}"/>
            </c:ext>
          </c:extLst>
        </c:ser>
        <c:ser>
          <c:idx val="21"/>
          <c:order val="21"/>
          <c:tx>
            <c:strRef>
              <c:f>Sheet3!$C$24</c:f>
              <c:strCache>
                <c:ptCount val="1"/>
                <c:pt idx="0">
                  <c:v>HPIV3</c:v>
                </c:pt>
              </c:strCache>
            </c:strRef>
          </c:tx>
          <c:spPr>
            <a:solidFill>
              <a:schemeClr val="accent4">
                <a:lumMod val="80000"/>
              </a:schemeClr>
            </a:solidFill>
            <a:ln>
              <a:noFill/>
            </a:ln>
            <a:effectLst/>
          </c:spPr>
          <c:invertIfNegative val="0"/>
          <c:val>
            <c:numRef>
              <c:f>Sheet3!$D$24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FF07-9E49-9E36-467D31353653}"/>
            </c:ext>
          </c:extLst>
        </c:ser>
        <c:ser>
          <c:idx val="22"/>
          <c:order val="22"/>
          <c:tx>
            <c:strRef>
              <c:f>Sheet3!$C$25</c:f>
              <c:strCache>
                <c:ptCount val="1"/>
                <c:pt idx="0">
                  <c:v>SeV</c:v>
                </c:pt>
              </c:strCache>
            </c:strRef>
          </c:tx>
          <c:spPr>
            <a:solidFill>
              <a:schemeClr val="accent5">
                <a:lumMod val="80000"/>
              </a:schemeClr>
            </a:solidFill>
            <a:ln>
              <a:noFill/>
            </a:ln>
            <a:effectLst/>
          </c:spPr>
          <c:invertIfNegative val="0"/>
          <c:val>
            <c:numRef>
              <c:f>Sheet3!$D$25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FF07-9E49-9E36-467D31353653}"/>
            </c:ext>
          </c:extLst>
        </c:ser>
        <c:ser>
          <c:idx val="23"/>
          <c:order val="23"/>
          <c:tx>
            <c:strRef>
              <c:f>Sheet3!$C$26</c:f>
              <c:strCache>
                <c:ptCount val="1"/>
                <c:pt idx="0">
                  <c:v>RVFV</c:v>
                </c:pt>
              </c:strCache>
            </c:strRef>
          </c:tx>
          <c:spPr>
            <a:solidFill>
              <a:schemeClr val="accent6">
                <a:lumMod val="80000"/>
              </a:schemeClr>
            </a:solidFill>
            <a:ln>
              <a:noFill/>
            </a:ln>
            <a:effectLst/>
          </c:spPr>
          <c:invertIfNegative val="0"/>
          <c:val>
            <c:numRef>
              <c:f>Sheet3!$D$26</c:f>
              <c:numCache>
                <c:formatCode>General</c:formatCode>
                <c:ptCount val="1"/>
                <c:pt idx="0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7-FF07-9E49-9E36-467D31353653}"/>
            </c:ext>
          </c:extLst>
        </c:ser>
        <c:ser>
          <c:idx val="24"/>
          <c:order val="24"/>
          <c:tx>
            <c:strRef>
              <c:f>Sheet3!$C$27</c:f>
              <c:strCache>
                <c:ptCount val="1"/>
                <c:pt idx="0">
                  <c:v>Enterovirus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val>
            <c:numRef>
              <c:f>Sheet3!$D$27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FF07-9E49-9E36-467D31353653}"/>
            </c:ext>
          </c:extLst>
        </c:ser>
        <c:ser>
          <c:idx val="25"/>
          <c:order val="25"/>
          <c:tx>
            <c:strRef>
              <c:f>Sheet3!$C$28</c:f>
              <c:strCache>
                <c:ptCount val="1"/>
                <c:pt idx="0">
                  <c:v>HRV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val>
            <c:numRef>
              <c:f>Sheet3!$D$28</c:f>
              <c:numCache>
                <c:formatCode>General</c:formatCode>
                <c:ptCount val="1"/>
                <c:pt idx="0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FF07-9E49-9E36-467D31353653}"/>
            </c:ext>
          </c:extLst>
        </c:ser>
        <c:ser>
          <c:idx val="26"/>
          <c:order val="26"/>
          <c:tx>
            <c:strRef>
              <c:f>Sheet3!$C$29</c:f>
              <c:strCache>
                <c:ptCount val="1"/>
                <c:pt idx="0">
                  <c:v>RSV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val>
            <c:numRef>
              <c:f>Sheet3!$D$29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A-FF07-9E49-9E36-467D31353653}"/>
            </c:ext>
          </c:extLst>
        </c:ser>
        <c:ser>
          <c:idx val="27"/>
          <c:order val="27"/>
          <c:tx>
            <c:strRef>
              <c:f>Sheet3!$C$30</c:f>
              <c:strCache>
                <c:ptCount val="1"/>
                <c:pt idx="0">
                  <c:v>ORFV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val>
            <c:numRef>
              <c:f>Sheet3!$D$30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B-FF07-9E49-9E36-467D31353653}"/>
            </c:ext>
          </c:extLst>
        </c:ser>
        <c:ser>
          <c:idx val="28"/>
          <c:order val="28"/>
          <c:tx>
            <c:strRef>
              <c:f>Sheet3!$C$31</c:f>
              <c:strCache>
                <c:ptCount val="1"/>
                <c:pt idx="0">
                  <c:v>ROTAV</c:v>
                </c:pt>
              </c:strCache>
            </c:strRef>
          </c:tx>
          <c:spPr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val>
            <c:numRef>
              <c:f>Sheet3!$D$31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C-FF07-9E49-9E36-467D31353653}"/>
            </c:ext>
          </c:extLst>
        </c:ser>
        <c:ser>
          <c:idx val="29"/>
          <c:order val="29"/>
          <c:tx>
            <c:strRef>
              <c:f>Sheet3!$C$32</c:f>
              <c:strCache>
                <c:ptCount val="1"/>
                <c:pt idx="0">
                  <c:v>HIV1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val>
            <c:numRef>
              <c:f>Sheet3!$D$32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D-FF07-9E49-9E36-467D313536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1931258255"/>
        <c:axId val="1931011167"/>
      </c:barChart>
      <c:catAx>
        <c:axId val="19312582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931011167"/>
        <c:crosses val="autoZero"/>
        <c:auto val="1"/>
        <c:lblAlgn val="ctr"/>
        <c:lblOffset val="100"/>
        <c:noMultiLvlLbl val="0"/>
      </c:catAx>
      <c:valAx>
        <c:axId val="1931011167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1258255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27012426181102361"/>
          <c:y val="7.9057907658275459E-2"/>
          <c:w val="0.35487573818897639"/>
          <c:h val="0.8775877558839605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8796623970405965E-2"/>
          <c:y val="5.2847702862236806E-2"/>
          <c:w val="0.31373760585826693"/>
          <c:h val="0.9197700676754643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Sheet3!$E$36</c:f>
              <c:strCache>
                <c:ptCount val="1"/>
                <c:pt idx="0">
                  <c:v>(-)ssRNA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Sheet3!$F$36</c:f>
              <c:numCache>
                <c:formatCode>General</c:formatCode>
                <c:ptCount val="1"/>
                <c:pt idx="0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DB-3445-A96C-38524FC1D433}"/>
            </c:ext>
          </c:extLst>
        </c:ser>
        <c:ser>
          <c:idx val="1"/>
          <c:order val="1"/>
          <c:tx>
            <c:strRef>
              <c:f>Sheet3!$E$37</c:f>
              <c:strCache>
                <c:ptCount val="1"/>
                <c:pt idx="0">
                  <c:v>(+)ssRNA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Ref>
              <c:f>Sheet3!$F$37</c:f>
              <c:numCache>
                <c:formatCode>General</c:formatCode>
                <c:ptCount val="1"/>
                <c:pt idx="0">
                  <c:v>143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DDB-3445-A96C-38524FC1D433}"/>
            </c:ext>
          </c:extLst>
        </c:ser>
        <c:ser>
          <c:idx val="2"/>
          <c:order val="2"/>
          <c:tx>
            <c:strRef>
              <c:f>Sheet3!$E$38</c:f>
              <c:strCache>
                <c:ptCount val="1"/>
                <c:pt idx="0">
                  <c:v>(+/-)ssRNA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val>
            <c:numRef>
              <c:f>Sheet3!$F$38</c:f>
              <c:numCache>
                <c:formatCode>General</c:formatCode>
                <c:ptCount val="1"/>
                <c:pt idx="0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DDB-3445-A96C-38524FC1D433}"/>
            </c:ext>
          </c:extLst>
        </c:ser>
        <c:ser>
          <c:idx val="3"/>
          <c:order val="3"/>
          <c:tx>
            <c:strRef>
              <c:f>Sheet3!$E$39</c:f>
              <c:strCache>
                <c:ptCount val="1"/>
                <c:pt idx="0">
                  <c:v>dsDNA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val>
            <c:numRef>
              <c:f>Sheet3!$F$39</c:f>
              <c:numCache>
                <c:formatCode>General</c:formatCode>
                <c:ptCount val="1"/>
                <c:pt idx="0">
                  <c:v>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DDB-3445-A96C-38524FC1D4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1937492511"/>
        <c:axId val="1937354799"/>
      </c:barChart>
      <c:catAx>
        <c:axId val="193749251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937354799"/>
        <c:crosses val="autoZero"/>
        <c:auto val="1"/>
        <c:lblAlgn val="ctr"/>
        <c:lblOffset val="100"/>
        <c:noMultiLvlLbl val="0"/>
      </c:catAx>
      <c:valAx>
        <c:axId val="1937354799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7492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47912679290720384"/>
          <c:y val="0.20977002651391682"/>
          <c:w val="0.46393932463941695"/>
          <c:h val="0.6084147139595860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782152230971124E-2"/>
          <c:y val="3.4809118579474718E-2"/>
          <c:w val="0.33292173810783793"/>
          <c:h val="0.9092396282824676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Sheet3!$G$3</c:f>
              <c:strCache>
                <c:ptCount val="1"/>
                <c:pt idx="0">
                  <c:v>Adenoviridae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Sheet3!$H$3</c:f>
              <c:numCache>
                <c:formatCode>General</c:formatCode>
                <c:ptCount val="1"/>
                <c:pt idx="0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E3-D34C-8F71-025676A2BE58}"/>
            </c:ext>
          </c:extLst>
        </c:ser>
        <c:ser>
          <c:idx val="1"/>
          <c:order val="1"/>
          <c:tx>
            <c:strRef>
              <c:f>Sheet3!$G$4</c:f>
              <c:strCache>
                <c:ptCount val="1"/>
                <c:pt idx="0">
                  <c:v>Caliciviridae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Ref>
              <c:f>Sheet3!$H$4</c:f>
              <c:numCache>
                <c:formatCode>General</c:formatCode>
                <c:ptCount val="1"/>
                <c:pt idx="0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8E3-D34C-8F71-025676A2BE58}"/>
            </c:ext>
          </c:extLst>
        </c:ser>
        <c:ser>
          <c:idx val="2"/>
          <c:order val="2"/>
          <c:tx>
            <c:strRef>
              <c:f>Sheet3!$G$5</c:f>
              <c:strCache>
                <c:ptCount val="1"/>
                <c:pt idx="0">
                  <c:v>Coronaviridae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val>
            <c:numRef>
              <c:f>Sheet3!$H$5</c:f>
              <c:numCache>
                <c:formatCode>General</c:formatCode>
                <c:ptCount val="1"/>
                <c:pt idx="0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8E3-D34C-8F71-025676A2BE58}"/>
            </c:ext>
          </c:extLst>
        </c:ser>
        <c:ser>
          <c:idx val="3"/>
          <c:order val="3"/>
          <c:tx>
            <c:strRef>
              <c:f>Sheet3!$G$6</c:f>
              <c:strCache>
                <c:ptCount val="1"/>
                <c:pt idx="0">
                  <c:v>Filoviridae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val>
            <c:numRef>
              <c:f>Sheet3!$H$6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8E3-D34C-8F71-025676A2BE58}"/>
            </c:ext>
          </c:extLst>
        </c:ser>
        <c:ser>
          <c:idx val="4"/>
          <c:order val="4"/>
          <c:tx>
            <c:strRef>
              <c:f>Sheet3!$G$7</c:f>
              <c:strCache>
                <c:ptCount val="1"/>
                <c:pt idx="0">
                  <c:v>Flaviviridae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val>
            <c:numRef>
              <c:f>Sheet3!$H$7</c:f>
              <c:numCache>
                <c:formatCode>General</c:formatCode>
                <c:ptCount val="1"/>
                <c:pt idx="0">
                  <c:v>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8E3-D34C-8F71-025676A2BE58}"/>
            </c:ext>
          </c:extLst>
        </c:ser>
        <c:ser>
          <c:idx val="5"/>
          <c:order val="5"/>
          <c:tx>
            <c:strRef>
              <c:f>Sheet3!$G$8</c:f>
              <c:strCache>
                <c:ptCount val="1"/>
                <c:pt idx="0">
                  <c:v>Hantaviridae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val>
            <c:numRef>
              <c:f>Sheet3!$H$8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8E3-D34C-8F71-025676A2BE58}"/>
            </c:ext>
          </c:extLst>
        </c:ser>
        <c:ser>
          <c:idx val="6"/>
          <c:order val="6"/>
          <c:tx>
            <c:strRef>
              <c:f>Sheet3!$G$9</c:f>
              <c:strCache>
                <c:ptCount val="1"/>
                <c:pt idx="0">
                  <c:v>Hepadnaviridae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val>
            <c:numRef>
              <c:f>Sheet3!$H$9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8E3-D34C-8F71-025676A2BE58}"/>
            </c:ext>
          </c:extLst>
        </c:ser>
        <c:ser>
          <c:idx val="7"/>
          <c:order val="7"/>
          <c:tx>
            <c:strRef>
              <c:f>Sheet3!$G$10</c:f>
              <c:strCache>
                <c:ptCount val="1"/>
                <c:pt idx="0">
                  <c:v>Hepeviridae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val>
            <c:numRef>
              <c:f>Sheet3!$H$10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38E3-D34C-8F71-025676A2BE58}"/>
            </c:ext>
          </c:extLst>
        </c:ser>
        <c:ser>
          <c:idx val="8"/>
          <c:order val="8"/>
          <c:tx>
            <c:strRef>
              <c:f>Sheet3!$G$11</c:f>
              <c:strCache>
                <c:ptCount val="1"/>
                <c:pt idx="0">
                  <c:v>Herpesviridae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val>
            <c:numRef>
              <c:f>Sheet3!$H$11</c:f>
              <c:numCache>
                <c:formatCode>General</c:formatCode>
                <c:ptCount val="1"/>
                <c:pt idx="0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8E3-D34C-8F71-025676A2BE58}"/>
            </c:ext>
          </c:extLst>
        </c:ser>
        <c:ser>
          <c:idx val="9"/>
          <c:order val="9"/>
          <c:tx>
            <c:strRef>
              <c:f>Sheet3!#REF!</c:f>
              <c:strCache>
                <c:ptCount val="1"/>
                <c:pt idx="0">
                  <c:v>#REF!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val>
            <c:numRef>
              <c:f>Sheet3!#REF!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38E3-D34C-8F71-025676A2BE58}"/>
            </c:ext>
          </c:extLst>
        </c:ser>
        <c:ser>
          <c:idx val="10"/>
          <c:order val="10"/>
          <c:tx>
            <c:strRef>
              <c:f>Sheet3!$G$12</c:f>
              <c:strCache>
                <c:ptCount val="1"/>
                <c:pt idx="0">
                  <c:v>Nairoviridae</c:v>
                </c:pt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</a:ln>
            <a:effectLst/>
          </c:spPr>
          <c:invertIfNegative val="0"/>
          <c:val>
            <c:numRef>
              <c:f>Sheet3!$H$12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8E3-D34C-8F71-025676A2BE58}"/>
            </c:ext>
          </c:extLst>
        </c:ser>
        <c:ser>
          <c:idx val="11"/>
          <c:order val="11"/>
          <c:tx>
            <c:strRef>
              <c:f>Sheet3!$G$13</c:f>
              <c:strCache>
                <c:ptCount val="1"/>
                <c:pt idx="0">
                  <c:v>Orthomyxoviridae</c:v>
                </c:pt>
              </c:strCache>
            </c:strRef>
          </c:tx>
          <c:spPr>
            <a:solidFill>
              <a:schemeClr val="accent6">
                <a:lumMod val="60000"/>
              </a:schemeClr>
            </a:solidFill>
            <a:ln>
              <a:noFill/>
            </a:ln>
            <a:effectLst/>
          </c:spPr>
          <c:invertIfNegative val="0"/>
          <c:val>
            <c:numRef>
              <c:f>Sheet3!$H$13</c:f>
              <c:numCache>
                <c:formatCode>General</c:formatCode>
                <c:ptCount val="1"/>
                <c:pt idx="0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38E3-D34C-8F71-025676A2BE58}"/>
            </c:ext>
          </c:extLst>
        </c:ser>
        <c:ser>
          <c:idx val="12"/>
          <c:order val="12"/>
          <c:tx>
            <c:strRef>
              <c:f>Sheet3!$G$14</c:f>
              <c:strCache>
                <c:ptCount val="1"/>
                <c:pt idx="0">
                  <c:v>Papillomavirus</c:v>
                </c:pt>
              </c:strCache>
            </c:strRef>
          </c:tx>
          <c:spPr>
            <a:solidFill>
              <a:schemeClr val="accent1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val>
            <c:numRef>
              <c:f>Sheet3!$H$14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8E3-D34C-8F71-025676A2BE58}"/>
            </c:ext>
          </c:extLst>
        </c:ser>
        <c:ser>
          <c:idx val="13"/>
          <c:order val="13"/>
          <c:tx>
            <c:strRef>
              <c:f>Sheet3!$G$15</c:f>
              <c:strCache>
                <c:ptCount val="1"/>
                <c:pt idx="0">
                  <c:v>Paramyxoviridae</c:v>
                </c:pt>
              </c:strCache>
            </c:strRef>
          </c:tx>
          <c:spPr>
            <a:solidFill>
              <a:schemeClr val="accent2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val>
            <c:numRef>
              <c:f>Sheet3!$H$15</c:f>
              <c:numCache>
                <c:formatCode>General</c:formatCode>
                <c:ptCount val="1"/>
                <c:pt idx="0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38E3-D34C-8F71-025676A2BE58}"/>
            </c:ext>
          </c:extLst>
        </c:ser>
        <c:ser>
          <c:idx val="14"/>
          <c:order val="14"/>
          <c:tx>
            <c:strRef>
              <c:f>Sheet3!$G$16</c:f>
              <c:strCache>
                <c:ptCount val="1"/>
                <c:pt idx="0">
                  <c:v>Phenuiviridae</c:v>
                </c:pt>
              </c:strCache>
            </c:strRef>
          </c:tx>
          <c:spPr>
            <a:solidFill>
              <a:schemeClr val="accent3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val>
            <c:numRef>
              <c:f>Sheet3!$H$16</c:f>
              <c:numCache>
                <c:formatCode>General</c:formatCode>
                <c:ptCount val="1"/>
                <c:pt idx="0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38E3-D34C-8F71-025676A2BE58}"/>
            </c:ext>
          </c:extLst>
        </c:ser>
        <c:ser>
          <c:idx val="15"/>
          <c:order val="15"/>
          <c:tx>
            <c:strRef>
              <c:f>Sheet3!$G$17</c:f>
              <c:strCache>
                <c:ptCount val="1"/>
                <c:pt idx="0">
                  <c:v>Picornaviridae</c:v>
                </c:pt>
              </c:strCache>
            </c:strRef>
          </c:tx>
          <c:spPr>
            <a:solidFill>
              <a:schemeClr val="accent4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val>
            <c:numRef>
              <c:f>Sheet3!$H$17</c:f>
              <c:numCache>
                <c:formatCode>General</c:formatCode>
                <c:ptCount val="1"/>
                <c:pt idx="0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38E3-D34C-8F71-025676A2BE58}"/>
            </c:ext>
          </c:extLst>
        </c:ser>
        <c:ser>
          <c:idx val="16"/>
          <c:order val="16"/>
          <c:tx>
            <c:strRef>
              <c:f>Sheet3!$G$18</c:f>
              <c:strCache>
                <c:ptCount val="1"/>
                <c:pt idx="0">
                  <c:v>Pneumoviridae</c:v>
                </c:pt>
              </c:strCache>
            </c:strRef>
          </c:tx>
          <c:spPr>
            <a:solidFill>
              <a:schemeClr val="accent5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val>
            <c:numRef>
              <c:f>Sheet3!$H$18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38E3-D34C-8F71-025676A2BE58}"/>
            </c:ext>
          </c:extLst>
        </c:ser>
        <c:ser>
          <c:idx val="17"/>
          <c:order val="17"/>
          <c:tx>
            <c:strRef>
              <c:f>Sheet3!$G$19</c:f>
              <c:strCache>
                <c:ptCount val="1"/>
                <c:pt idx="0">
                  <c:v>Poxviridae</c:v>
                </c:pt>
              </c:strCache>
            </c:strRef>
          </c:tx>
          <c:spPr>
            <a:solidFill>
              <a:schemeClr val="accent6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val>
            <c:numRef>
              <c:f>Sheet3!$H$19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38E3-D34C-8F71-025676A2BE58}"/>
            </c:ext>
          </c:extLst>
        </c:ser>
        <c:ser>
          <c:idx val="18"/>
          <c:order val="18"/>
          <c:tx>
            <c:strRef>
              <c:f>Sheet3!$G$20</c:f>
              <c:strCache>
                <c:ptCount val="1"/>
                <c:pt idx="0">
                  <c:v>Reoviridae</c:v>
                </c:pt>
              </c:strCache>
            </c:strRef>
          </c:tx>
          <c:spPr>
            <a:solidFill>
              <a:schemeClr val="accent1">
                <a:lumMod val="80000"/>
              </a:schemeClr>
            </a:solidFill>
            <a:ln>
              <a:noFill/>
            </a:ln>
            <a:effectLst/>
          </c:spPr>
          <c:invertIfNegative val="0"/>
          <c:val>
            <c:numRef>
              <c:f>Sheet3!$H$20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38E3-D34C-8F71-025676A2BE58}"/>
            </c:ext>
          </c:extLst>
        </c:ser>
        <c:ser>
          <c:idx val="19"/>
          <c:order val="19"/>
          <c:tx>
            <c:strRef>
              <c:f>Sheet3!$G$21</c:f>
              <c:strCache>
                <c:ptCount val="1"/>
                <c:pt idx="0">
                  <c:v>Retroviridae</c:v>
                </c:pt>
              </c:strCache>
            </c:strRef>
          </c:tx>
          <c:spPr>
            <a:solidFill>
              <a:schemeClr val="accent2">
                <a:lumMod val="80000"/>
              </a:schemeClr>
            </a:solidFill>
            <a:ln>
              <a:noFill/>
            </a:ln>
            <a:effectLst/>
          </c:spPr>
          <c:invertIfNegative val="0"/>
          <c:val>
            <c:numRef>
              <c:f>Sheet3!$H$21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38E3-D34C-8F71-025676A2BE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1937035087"/>
        <c:axId val="1945115951"/>
      </c:barChart>
      <c:catAx>
        <c:axId val="193703508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945115951"/>
        <c:crosses val="autoZero"/>
        <c:auto val="1"/>
        <c:lblAlgn val="ctr"/>
        <c:lblOffset val="100"/>
        <c:noMultiLvlLbl val="0"/>
      </c:catAx>
      <c:valAx>
        <c:axId val="1945115951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70350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egendEntry>
        <c:idx val="10"/>
        <c:delete val="1"/>
      </c:legendEntry>
      <c:layout>
        <c:manualLayout>
          <c:xMode val="edge"/>
          <c:yMode val="edge"/>
          <c:x val="0.54637248940814498"/>
          <c:y val="0.10403149500857209"/>
          <c:w val="0.45362751059185508"/>
          <c:h val="0.8118277391085928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906F1A-7FAB-3946-AA61-A4E28BA280A9}" type="datetimeFigureOut">
              <a:rPr lang="en-US" smtClean="0"/>
              <a:t>10/6/20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D42A20-C187-0E4C-AA32-2C9A78B13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134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1463B-C0D1-BA4C-9BB6-EEA7E8BE7E7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449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EB992-899F-8846-BC93-867A609D58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881CBC-8FD0-5749-8F6F-4786888EE6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C9E64-568C-9144-BFC9-6F7D8059C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B4B14-3289-AD41-9B47-E7B709593C2F}" type="datetimeFigureOut">
              <a:rPr lang="en-US" smtClean="0"/>
              <a:t>10/6/20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12F83-AB26-704C-99D0-EC5319529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F044E-3A5A-E843-AF4A-0DD70D7C1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C6FCA-08F6-5D43-8367-EEE209378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568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551E7-33CA-654A-97B2-D7C6C1E53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5499D-9228-644C-823C-EF9EAAB38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7057C-9E7F-904F-864A-683EFD579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B4B14-3289-AD41-9B47-E7B709593C2F}" type="datetimeFigureOut">
              <a:rPr lang="en-US" smtClean="0"/>
              <a:t>10/6/20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49992-1B42-F245-9935-8A5D50EDE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C789F-4756-774C-BAD8-F004134E8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C6FCA-08F6-5D43-8367-EEE209378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13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F381A-8EAC-9D45-A1B1-B36B73B35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44EC6D-1824-F44D-BEE3-D2B79BBCD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38A25-C4BA-3944-9FBC-5FF89E489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B4B14-3289-AD41-9B47-E7B709593C2F}" type="datetimeFigureOut">
              <a:rPr lang="en-US" smtClean="0"/>
              <a:t>10/6/20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3E66E-A464-7446-B7D3-1CCC9D6B7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708FD-FCAA-314E-972D-74DDED140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C6FCA-08F6-5D43-8367-EEE209378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712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209FF-2EBD-9C41-B2A8-E46BF14CD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021EC-63B8-AC46-BE6A-DEA49F7B40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07931-FCBE-CA48-B42B-36B12CE47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9068FC-6AB0-5348-BF45-7ABF4F7C4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B4B14-3289-AD41-9B47-E7B709593C2F}" type="datetimeFigureOut">
              <a:rPr lang="en-US" smtClean="0"/>
              <a:t>10/6/20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A7830-1DD8-6940-B4EE-30BCAA015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65BBE-8CF8-084D-A4B2-A9FC17728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C6FCA-08F6-5D43-8367-EEE209378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154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62F8B-A701-5E46-8DF3-EABC8C636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12F5C7-3DD8-B549-9517-B9B28D15F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B105B9-A100-1949-9F88-79EEBDA74B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FFF638-EC86-E242-8376-7427A49BC1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E5897A-ABB5-AE4B-9E1C-E885738573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FF6D12-52F3-124D-B69E-69025B721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B4B14-3289-AD41-9B47-E7B709593C2F}" type="datetimeFigureOut">
              <a:rPr lang="en-US" smtClean="0"/>
              <a:t>10/6/20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AE5471-E2E2-6147-A612-D44289CC4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BD4C1-ADB1-1C46-913C-2FE909C33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C6FCA-08F6-5D43-8367-EEE209378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566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5A34D-B824-604B-B5C1-DCDCB4EE6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DD61DA-2A03-CB41-A379-3D2F1F097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B4B14-3289-AD41-9B47-E7B709593C2F}" type="datetimeFigureOut">
              <a:rPr lang="en-US" smtClean="0"/>
              <a:t>10/6/20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E08DAB-FC41-E04E-8C89-65A4951D2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16E19B-225C-2E4D-AE09-08D956DFE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C6FCA-08F6-5D43-8367-EEE209378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780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A29405-B26B-A348-9D66-C1485B9BB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B4B14-3289-AD41-9B47-E7B709593C2F}" type="datetimeFigureOut">
              <a:rPr lang="en-US" smtClean="0"/>
              <a:t>10/6/20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90D2E9-20DD-1143-99E5-24D24906F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11756-9465-094A-B1A0-0E99F2B7E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C6FCA-08F6-5D43-8367-EEE209378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221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2D3F5-1090-CF4E-9ED5-98730B4F1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9E92A-51DA-974D-8F5B-05B2747C6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435937-335B-EF42-8BBD-5D0681CF16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147777-0AB8-B54F-9BDD-BA4C8173B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B4B14-3289-AD41-9B47-E7B709593C2F}" type="datetimeFigureOut">
              <a:rPr lang="en-US" smtClean="0"/>
              <a:t>10/6/20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1D1CFE-C9CC-B440-88AF-443D5D1F5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5FBCA-5D13-E440-AB1F-DA8CD77F6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C6FCA-08F6-5D43-8367-EEE209378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829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841A5-4932-DC45-9518-FFE06B7FA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2838F0-AAEA-294C-B553-707327AF1E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24E23E-7E3B-584B-A6A5-5F9C0426F2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0B512B-FD55-8B42-864A-A003E3183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B4B14-3289-AD41-9B47-E7B709593C2F}" type="datetimeFigureOut">
              <a:rPr lang="en-US" smtClean="0"/>
              <a:t>10/6/20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A9C9DF-C290-4148-94B8-330DC4B88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7F3C83-4B59-CF40-A97D-71DCD15ED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C6FCA-08F6-5D43-8367-EEE209378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958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9CB68-618A-4E43-B50B-EADEF5453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80C36F-A458-4A43-94D7-799CDB2984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7A4BC-A58C-7243-AD0B-7F106FDFF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B4B14-3289-AD41-9B47-E7B709593C2F}" type="datetimeFigureOut">
              <a:rPr lang="en-US" smtClean="0"/>
              <a:t>10/6/20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723B7-0A1D-8E4C-A0C5-95BBE89AE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18BA2-C62B-8F48-83C2-8226DB527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C6FCA-08F6-5D43-8367-EEE209378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264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1BA01A-6C1C-564E-98CA-B10BACC370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D96E46-E3E7-2441-84D2-5A42A20F1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26516-8E6A-B14B-9102-A3B37CE50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B4B14-3289-AD41-9B47-E7B709593C2F}" type="datetimeFigureOut">
              <a:rPr lang="en-US" smtClean="0"/>
              <a:t>10/6/20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1DAF1-6D6C-9F45-8847-D927131E6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CC6B1-5BA1-C84B-B044-36BB12E87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C6FCA-08F6-5D43-8367-EEE209378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409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C0D038-8FF1-7F40-A01C-F0303E4CF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5ECE94-AF9C-F341-B68A-E79EB0EA7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47A66-2856-5B48-A6DB-45C2254678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B4B14-3289-AD41-9B47-E7B709593C2F}" type="datetimeFigureOut">
              <a:rPr lang="en-US" smtClean="0"/>
              <a:t>10/6/20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B9FB9-270D-F14D-B461-B3C71C0C7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6A4A4-9925-AC41-A593-BD4D8228EB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CC6FCA-08F6-5D43-8367-EEE209378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026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  <p:sldLayoutId id="2147483892" r:id="rId2"/>
    <p:sldLayoutId id="2147483893" r:id="rId3"/>
    <p:sldLayoutId id="2147483894" r:id="rId4"/>
    <p:sldLayoutId id="2147483895" r:id="rId5"/>
    <p:sldLayoutId id="2147483896" r:id="rId6"/>
    <p:sldLayoutId id="2147483897" r:id="rId7"/>
    <p:sldLayoutId id="2147483898" r:id="rId8"/>
    <p:sldLayoutId id="2147483899" r:id="rId9"/>
    <p:sldLayoutId id="2147483900" r:id="rId10"/>
    <p:sldLayoutId id="21474839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16">
            <a:extLst>
              <a:ext uri="{FF2B5EF4-FFF2-40B4-BE49-F238E27FC236}">
                <a16:creationId xmlns:a16="http://schemas.microsoft.com/office/drawing/2014/main" id="{C9DE7CB7-B668-8B48-8EA3-EA91FF8DE1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0904" y="1231222"/>
            <a:ext cx="11023192" cy="539772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7826D8-D6FF-2246-89DE-9ED24CBE9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830" y="5807077"/>
            <a:ext cx="472005" cy="9139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A817A72-CBB0-2E41-906B-A60A1E3409D6}"/>
              </a:ext>
            </a:extLst>
          </p:cNvPr>
          <p:cNvSpPr txBox="1"/>
          <p:nvPr/>
        </p:nvSpPr>
        <p:spPr>
          <a:xfrm>
            <a:off x="1780377" y="6351690"/>
            <a:ext cx="201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Host infected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CBE28B-94C5-884D-BFE8-87EF37EE804B}"/>
              </a:ext>
            </a:extLst>
          </p:cNvPr>
          <p:cNvSpPr txBox="1"/>
          <p:nvPr/>
        </p:nvSpPr>
        <p:spPr>
          <a:xfrm>
            <a:off x="2767317" y="3350311"/>
            <a:ext cx="2157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Innate Immune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Response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62E377-1180-5E4A-AF88-5B7CDA3D3B1A}"/>
              </a:ext>
            </a:extLst>
          </p:cNvPr>
          <p:cNvSpPr txBox="1"/>
          <p:nvPr/>
        </p:nvSpPr>
        <p:spPr>
          <a:xfrm>
            <a:off x="5385429" y="2796314"/>
            <a:ext cx="1834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Pathogen Signature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15FB17-41EB-3649-915D-D23154C3ACBF}"/>
              </a:ext>
            </a:extLst>
          </p:cNvPr>
          <p:cNvSpPr txBox="1"/>
          <p:nvPr/>
        </p:nvSpPr>
        <p:spPr>
          <a:xfrm>
            <a:off x="7552609" y="2473148"/>
            <a:ext cx="2772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Adaptive Immune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Response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02C9D9-3C5F-9344-A4DF-301689122389}"/>
              </a:ext>
            </a:extLst>
          </p:cNvPr>
          <p:cNvSpPr txBox="1"/>
          <p:nvPr/>
        </p:nvSpPr>
        <p:spPr>
          <a:xfrm>
            <a:off x="6308099" y="5151614"/>
            <a:ext cx="2082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Clinical Symptoms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5621E9B-076C-9244-9DC6-4A0C935A7F4B}"/>
              </a:ext>
            </a:extLst>
          </p:cNvPr>
          <p:cNvGrpSpPr/>
          <p:nvPr/>
        </p:nvGrpSpPr>
        <p:grpSpPr>
          <a:xfrm>
            <a:off x="4457668" y="841051"/>
            <a:ext cx="6917123" cy="523293"/>
            <a:chOff x="4457668" y="841051"/>
            <a:chExt cx="6917123" cy="523293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F9558A3-89AA-9C4A-94C8-8A024D641EA3}"/>
                </a:ext>
              </a:extLst>
            </p:cNvPr>
            <p:cNvSpPr txBox="1"/>
            <p:nvPr/>
          </p:nvSpPr>
          <p:spPr>
            <a:xfrm>
              <a:off x="6719499" y="841051"/>
              <a:ext cx="27834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Pathogen-specific Signature</a:t>
              </a:r>
            </a:p>
          </p:txBody>
        </p:sp>
        <p:sp>
          <p:nvSpPr>
            <p:cNvPr id="16" name="Left Bracket 15">
              <a:extLst>
                <a:ext uri="{FF2B5EF4-FFF2-40B4-BE49-F238E27FC236}">
                  <a16:creationId xmlns:a16="http://schemas.microsoft.com/office/drawing/2014/main" id="{9DB50CD2-BB9A-1F42-875B-F5C3613EF392}"/>
                </a:ext>
              </a:extLst>
            </p:cNvPr>
            <p:cNvSpPr/>
            <p:nvPr/>
          </p:nvSpPr>
          <p:spPr>
            <a:xfrm rot="5400000">
              <a:off x="7822469" y="-2187979"/>
              <a:ext cx="187522" cy="6917123"/>
            </a:xfrm>
            <a:prstGeom prst="leftBracket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A85A54F-BDF4-F049-9A26-737043A587B1}"/>
              </a:ext>
            </a:extLst>
          </p:cNvPr>
          <p:cNvSpPr txBox="1"/>
          <p:nvPr/>
        </p:nvSpPr>
        <p:spPr>
          <a:xfrm>
            <a:off x="1537107" y="1364344"/>
            <a:ext cx="210973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What is the first wave of transcription response to infection?</a:t>
            </a:r>
          </a:p>
          <a:p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400" b="1" dirty="0">
                <a:solidFill>
                  <a:srgbClr val="FF0000"/>
                </a:solidFill>
              </a:rPr>
              <a:t>Do host response do different pathogens differently?</a:t>
            </a:r>
          </a:p>
          <a:p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400" b="1" dirty="0">
                <a:solidFill>
                  <a:srgbClr val="FF0000"/>
                </a:solidFill>
              </a:rPr>
              <a:t>What dictates the difference?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AC6C71-6BA5-7941-99F3-1355CE2FB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904" y="-31450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/>
              <a:t> Host innate immune response at a glance</a:t>
            </a:r>
          </a:p>
        </p:txBody>
      </p:sp>
    </p:spTree>
    <p:extLst>
      <p:ext uri="{BB962C8B-B14F-4D97-AF65-F5344CB8AC3E}">
        <p14:creationId xmlns:p14="http://schemas.microsoft.com/office/powerpoint/2010/main" val="943486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05BD01B-7423-354B-9385-79BAEDC0A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904" y="79226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/>
              <a:t> Host innate immune response has the potential to forecast an ongoing viral infection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96C6C85-1FA5-424A-86DF-D1E24514B8CB}"/>
              </a:ext>
            </a:extLst>
          </p:cNvPr>
          <p:cNvGrpSpPr/>
          <p:nvPr/>
        </p:nvGrpSpPr>
        <p:grpSpPr>
          <a:xfrm>
            <a:off x="1214438" y="1404789"/>
            <a:ext cx="9034462" cy="4663971"/>
            <a:chOff x="1214438" y="1754879"/>
            <a:chExt cx="9034462" cy="466397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FBE3A91-6EB7-1B41-A300-3FE796559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14438" y="1754879"/>
              <a:ext cx="9034462" cy="4663971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E9CE2F9-44B4-A347-8987-D3190DBDE863}"/>
                </a:ext>
              </a:extLst>
            </p:cNvPr>
            <p:cNvSpPr/>
            <p:nvPr/>
          </p:nvSpPr>
          <p:spPr>
            <a:xfrm>
              <a:off x="1214438" y="1754879"/>
              <a:ext cx="271462" cy="2025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BD2A717-B4F2-2C4F-8EBE-9A2311B601B5}"/>
              </a:ext>
            </a:extLst>
          </p:cNvPr>
          <p:cNvSpPr txBox="1"/>
          <p:nvPr/>
        </p:nvSpPr>
        <p:spPr>
          <a:xfrm>
            <a:off x="10043398" y="6615051"/>
            <a:ext cx="21486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Zhai</a:t>
            </a:r>
            <a:r>
              <a:rPr lang="en-US" sz="1400" dirty="0"/>
              <a:t>, 2015 PLOS Pathogens</a:t>
            </a:r>
          </a:p>
        </p:txBody>
      </p:sp>
    </p:spTree>
    <p:extLst>
      <p:ext uri="{BB962C8B-B14F-4D97-AF65-F5344CB8AC3E}">
        <p14:creationId xmlns:p14="http://schemas.microsoft.com/office/powerpoint/2010/main" val="3509429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0DC504-67E9-924F-BDDC-DE7517C5E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" y="308808"/>
            <a:ext cx="4483100" cy="18565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0E2158-B732-8B47-8A0E-1598F0730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2700" y="1583058"/>
            <a:ext cx="6592555" cy="490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714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A35C5-9164-6947-AE1C-85DC0DBCA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Summary of meta-analysis datasets used to generalize host response to viral infection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69542C2-3938-9D49-B54D-A3750953B0E5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838200" y="1485201"/>
          <a:ext cx="5689600" cy="49798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E7750B25-E5C9-434F-AB7F-667445E9A5E9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760819" y="1353006"/>
          <a:ext cx="2523067" cy="51018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4E6080D2-D673-F442-9CA8-7221A9EE6F8A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8445731" y="1498826"/>
          <a:ext cx="2971859" cy="51078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295086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Graphic spid="7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7866CD-AB5B-B747-B276-04E48BF71BB1}"/>
              </a:ext>
            </a:extLst>
          </p:cNvPr>
          <p:cNvPicPr/>
          <p:nvPr/>
        </p:nvPicPr>
        <p:blipFill rotWithShape="1">
          <a:blip r:embed="rId2"/>
          <a:srcRect b="43468"/>
          <a:stretch/>
        </p:blipFill>
        <p:spPr>
          <a:xfrm>
            <a:off x="1056819" y="980741"/>
            <a:ext cx="4466651" cy="55475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03634F-439B-C34D-9AC5-9BBF58D3A4C6}"/>
              </a:ext>
            </a:extLst>
          </p:cNvPr>
          <p:cNvPicPr/>
          <p:nvPr/>
        </p:nvPicPr>
        <p:blipFill rotWithShape="1">
          <a:blip r:embed="rId2"/>
          <a:srcRect t="56081"/>
          <a:stretch/>
        </p:blipFill>
        <p:spPr>
          <a:xfrm>
            <a:off x="5523470" y="980741"/>
            <a:ext cx="5962422" cy="57530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F89443A-3E53-D542-9E52-22930E43B1EB}"/>
              </a:ext>
            </a:extLst>
          </p:cNvPr>
          <p:cNvSpPr txBox="1"/>
          <p:nvPr/>
        </p:nvSpPr>
        <p:spPr>
          <a:xfrm>
            <a:off x="316966" y="211872"/>
            <a:ext cx="223378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Proposed pipeline for meta-analysis using virus infection RNA-seq datasets to infer host transcriptional patterns</a:t>
            </a:r>
          </a:p>
        </p:txBody>
      </p:sp>
    </p:spTree>
    <p:extLst>
      <p:ext uri="{BB962C8B-B14F-4D97-AF65-F5344CB8AC3E}">
        <p14:creationId xmlns:p14="http://schemas.microsoft.com/office/powerpoint/2010/main" val="32756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275</TotalTime>
  <Words>93</Words>
  <Application>Microsoft Macintosh PowerPoint</Application>
  <PresentationFormat>Widescreen</PresentationFormat>
  <Paragraphs>20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 Host innate immune response at a glance</vt:lpstr>
      <vt:lpstr> Host innate immune response has the potential to forecast an ongoing viral infection </vt:lpstr>
      <vt:lpstr>PowerPoint Presentation</vt:lpstr>
      <vt:lpstr>Summary of meta-analysis datasets used to generalize host response to viral infection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Qing Yang</dc:creator>
  <cp:lastModifiedBy>Qing Yang</cp:lastModifiedBy>
  <cp:revision>15</cp:revision>
  <dcterms:created xsi:type="dcterms:W3CDTF">2020-10-06T18:06:21Z</dcterms:created>
  <dcterms:modified xsi:type="dcterms:W3CDTF">2020-10-06T22:42:00Z</dcterms:modified>
</cp:coreProperties>
</file>